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267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581F39-5BA0-4C62-8F76-407C90F7498C}" type="doc">
      <dgm:prSet loTypeId="urn:microsoft.com/office/officeart/2005/8/layout/hierarchy3" loCatId="hierarchy" qsTypeId="urn:microsoft.com/office/officeart/2005/8/quickstyle/simple2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A03F9B3-E0D0-45A3-85B1-EFEE51523126}">
      <dgm:prSet/>
      <dgm:spPr/>
      <dgm:t>
        <a:bodyPr/>
        <a:lstStyle/>
        <a:p>
          <a:r>
            <a:rPr lang="en-US"/>
            <a:t>Jeffery Richardson</a:t>
          </a:r>
        </a:p>
      </dgm:t>
    </dgm:pt>
    <dgm:pt modelId="{05E14763-4498-41F4-AF51-D0396C0A10EB}" type="parTrans" cxnId="{337AA132-24AE-4C0C-8497-C32B75811521}">
      <dgm:prSet/>
      <dgm:spPr/>
      <dgm:t>
        <a:bodyPr/>
        <a:lstStyle/>
        <a:p>
          <a:endParaRPr lang="en-US"/>
        </a:p>
      </dgm:t>
    </dgm:pt>
    <dgm:pt modelId="{3D4BF514-4383-48AC-83C3-9776554BB425}" type="sibTrans" cxnId="{337AA132-24AE-4C0C-8497-C32B75811521}">
      <dgm:prSet/>
      <dgm:spPr/>
      <dgm:t>
        <a:bodyPr/>
        <a:lstStyle/>
        <a:p>
          <a:endParaRPr lang="en-US"/>
        </a:p>
      </dgm:t>
    </dgm:pt>
    <dgm:pt modelId="{86E24F03-971B-4A79-A42D-6A6CCB12F75E}">
      <dgm:prSet/>
      <dgm:spPr/>
      <dgm:t>
        <a:bodyPr/>
        <a:lstStyle/>
        <a:p>
          <a:r>
            <a:rPr lang="en-US"/>
            <a:t>Grand Canyon University</a:t>
          </a:r>
        </a:p>
      </dgm:t>
    </dgm:pt>
    <dgm:pt modelId="{F31F81F1-701C-4548-9AD6-0E4950AA5C40}" type="parTrans" cxnId="{D394C698-F71A-46D0-BDC5-D5B10792575E}">
      <dgm:prSet/>
      <dgm:spPr/>
      <dgm:t>
        <a:bodyPr/>
        <a:lstStyle/>
        <a:p>
          <a:endParaRPr lang="en-US"/>
        </a:p>
      </dgm:t>
    </dgm:pt>
    <dgm:pt modelId="{2CB285FD-445D-4AB7-851B-E0343847F606}" type="sibTrans" cxnId="{D394C698-F71A-46D0-BDC5-D5B10792575E}">
      <dgm:prSet/>
      <dgm:spPr/>
      <dgm:t>
        <a:bodyPr/>
        <a:lstStyle/>
        <a:p>
          <a:endParaRPr lang="en-US"/>
        </a:p>
      </dgm:t>
    </dgm:pt>
    <dgm:pt modelId="{2ACDB314-E935-40C5-AE2D-56A502199C32}">
      <dgm:prSet/>
      <dgm:spPr/>
      <dgm:t>
        <a:bodyPr/>
        <a:lstStyle/>
        <a:p>
          <a:r>
            <a:rPr lang="en-US"/>
            <a:t>DSC-590 – Model Insight and Validation</a:t>
          </a:r>
        </a:p>
      </dgm:t>
    </dgm:pt>
    <dgm:pt modelId="{5CB6D696-4716-4A72-89B4-BA44384416F5}" type="parTrans" cxnId="{A02715ED-A2EE-4EB1-A958-54256DE7FFF5}">
      <dgm:prSet/>
      <dgm:spPr/>
      <dgm:t>
        <a:bodyPr/>
        <a:lstStyle/>
        <a:p>
          <a:endParaRPr lang="en-US"/>
        </a:p>
      </dgm:t>
    </dgm:pt>
    <dgm:pt modelId="{C8227C86-75BC-4AE9-9983-54DCEC104D08}" type="sibTrans" cxnId="{A02715ED-A2EE-4EB1-A958-54256DE7FFF5}">
      <dgm:prSet/>
      <dgm:spPr/>
      <dgm:t>
        <a:bodyPr/>
        <a:lstStyle/>
        <a:p>
          <a:endParaRPr lang="en-US"/>
        </a:p>
      </dgm:t>
    </dgm:pt>
    <dgm:pt modelId="{F02D1F67-F9EA-41C2-9E10-E6B95DD9B0EC}" type="pres">
      <dgm:prSet presAssocID="{CB581F39-5BA0-4C62-8F76-407C90F7498C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28C8CAB-F2BF-46DA-BACF-F172BE54BDAC}" type="pres">
      <dgm:prSet presAssocID="{2A03F9B3-E0D0-45A3-85B1-EFEE51523126}" presName="root" presStyleCnt="0"/>
      <dgm:spPr/>
    </dgm:pt>
    <dgm:pt modelId="{32A9068C-0554-4030-B327-1770DA904D13}" type="pres">
      <dgm:prSet presAssocID="{2A03F9B3-E0D0-45A3-85B1-EFEE51523126}" presName="rootComposite" presStyleCnt="0"/>
      <dgm:spPr/>
    </dgm:pt>
    <dgm:pt modelId="{962B3EEA-C8FA-46DB-9D21-45A310BC3BA3}" type="pres">
      <dgm:prSet presAssocID="{2A03F9B3-E0D0-45A3-85B1-EFEE51523126}" presName="rootText" presStyleLbl="node1" presStyleIdx="0" presStyleCnt="3"/>
      <dgm:spPr/>
    </dgm:pt>
    <dgm:pt modelId="{62974F77-2107-4361-8D7B-084856110C4A}" type="pres">
      <dgm:prSet presAssocID="{2A03F9B3-E0D0-45A3-85B1-EFEE51523126}" presName="rootConnector" presStyleLbl="node1" presStyleIdx="0" presStyleCnt="3"/>
      <dgm:spPr/>
    </dgm:pt>
    <dgm:pt modelId="{B4B27635-C09F-4203-A06E-4B046A25F1E5}" type="pres">
      <dgm:prSet presAssocID="{2A03F9B3-E0D0-45A3-85B1-EFEE51523126}" presName="childShape" presStyleCnt="0"/>
      <dgm:spPr/>
    </dgm:pt>
    <dgm:pt modelId="{44529B86-BC37-4A10-B13E-62D1DF333910}" type="pres">
      <dgm:prSet presAssocID="{86E24F03-971B-4A79-A42D-6A6CCB12F75E}" presName="root" presStyleCnt="0"/>
      <dgm:spPr/>
    </dgm:pt>
    <dgm:pt modelId="{3A9D31A4-F00E-4CC4-9C02-E8540A1F4DA1}" type="pres">
      <dgm:prSet presAssocID="{86E24F03-971B-4A79-A42D-6A6CCB12F75E}" presName="rootComposite" presStyleCnt="0"/>
      <dgm:spPr/>
    </dgm:pt>
    <dgm:pt modelId="{3C05B7DF-E098-4C7B-9036-CAC49C6CA0B5}" type="pres">
      <dgm:prSet presAssocID="{86E24F03-971B-4A79-A42D-6A6CCB12F75E}" presName="rootText" presStyleLbl="node1" presStyleIdx="1" presStyleCnt="3"/>
      <dgm:spPr/>
    </dgm:pt>
    <dgm:pt modelId="{ED1FADE3-E3ED-4DFC-8033-3061812B76CD}" type="pres">
      <dgm:prSet presAssocID="{86E24F03-971B-4A79-A42D-6A6CCB12F75E}" presName="rootConnector" presStyleLbl="node1" presStyleIdx="1" presStyleCnt="3"/>
      <dgm:spPr/>
    </dgm:pt>
    <dgm:pt modelId="{18E9B5AC-F79E-412E-8881-3DE4104AD8A2}" type="pres">
      <dgm:prSet presAssocID="{86E24F03-971B-4A79-A42D-6A6CCB12F75E}" presName="childShape" presStyleCnt="0"/>
      <dgm:spPr/>
    </dgm:pt>
    <dgm:pt modelId="{C2AD80A5-4F17-445A-84E1-693EDEDE5420}" type="pres">
      <dgm:prSet presAssocID="{2ACDB314-E935-40C5-AE2D-56A502199C32}" presName="root" presStyleCnt="0"/>
      <dgm:spPr/>
    </dgm:pt>
    <dgm:pt modelId="{E4B71C23-5543-4DB2-9AC0-8A0B92B43D5E}" type="pres">
      <dgm:prSet presAssocID="{2ACDB314-E935-40C5-AE2D-56A502199C32}" presName="rootComposite" presStyleCnt="0"/>
      <dgm:spPr/>
    </dgm:pt>
    <dgm:pt modelId="{FCB42999-C763-4758-A096-BF307FBF19A2}" type="pres">
      <dgm:prSet presAssocID="{2ACDB314-E935-40C5-AE2D-56A502199C32}" presName="rootText" presStyleLbl="node1" presStyleIdx="2" presStyleCnt="3"/>
      <dgm:spPr/>
    </dgm:pt>
    <dgm:pt modelId="{1FB93C1F-BAC1-4128-8F9C-CE16DEA8E40B}" type="pres">
      <dgm:prSet presAssocID="{2ACDB314-E935-40C5-AE2D-56A502199C32}" presName="rootConnector" presStyleLbl="node1" presStyleIdx="2" presStyleCnt="3"/>
      <dgm:spPr/>
    </dgm:pt>
    <dgm:pt modelId="{1D6409FB-6F5A-48BC-A76D-4B65059BF10A}" type="pres">
      <dgm:prSet presAssocID="{2ACDB314-E935-40C5-AE2D-56A502199C32}" presName="childShape" presStyleCnt="0"/>
      <dgm:spPr/>
    </dgm:pt>
  </dgm:ptLst>
  <dgm:cxnLst>
    <dgm:cxn modelId="{BEB22B06-BA27-48FC-B26F-FB69F268351C}" type="presOf" srcId="{2A03F9B3-E0D0-45A3-85B1-EFEE51523126}" destId="{62974F77-2107-4361-8D7B-084856110C4A}" srcOrd="1" destOrd="0" presId="urn:microsoft.com/office/officeart/2005/8/layout/hierarchy3"/>
    <dgm:cxn modelId="{337AA132-24AE-4C0C-8497-C32B75811521}" srcId="{CB581F39-5BA0-4C62-8F76-407C90F7498C}" destId="{2A03F9B3-E0D0-45A3-85B1-EFEE51523126}" srcOrd="0" destOrd="0" parTransId="{05E14763-4498-41F4-AF51-D0396C0A10EB}" sibTransId="{3D4BF514-4383-48AC-83C3-9776554BB425}"/>
    <dgm:cxn modelId="{EAA1CE65-EE3B-424E-9AAA-D7B7171479B9}" type="presOf" srcId="{86E24F03-971B-4A79-A42D-6A6CCB12F75E}" destId="{ED1FADE3-E3ED-4DFC-8033-3061812B76CD}" srcOrd="1" destOrd="0" presId="urn:microsoft.com/office/officeart/2005/8/layout/hierarchy3"/>
    <dgm:cxn modelId="{9B1C6B87-B387-4E19-B72D-039B7BCA88E5}" type="presOf" srcId="{2A03F9B3-E0D0-45A3-85B1-EFEE51523126}" destId="{962B3EEA-C8FA-46DB-9D21-45A310BC3BA3}" srcOrd="0" destOrd="0" presId="urn:microsoft.com/office/officeart/2005/8/layout/hierarchy3"/>
    <dgm:cxn modelId="{D394C698-F71A-46D0-BDC5-D5B10792575E}" srcId="{CB581F39-5BA0-4C62-8F76-407C90F7498C}" destId="{86E24F03-971B-4A79-A42D-6A6CCB12F75E}" srcOrd="1" destOrd="0" parTransId="{F31F81F1-701C-4548-9AD6-0E4950AA5C40}" sibTransId="{2CB285FD-445D-4AB7-851B-E0343847F606}"/>
    <dgm:cxn modelId="{3F12FA9F-3A9F-4635-B93A-03914D2427DA}" type="presOf" srcId="{CB581F39-5BA0-4C62-8F76-407C90F7498C}" destId="{F02D1F67-F9EA-41C2-9E10-E6B95DD9B0EC}" srcOrd="0" destOrd="0" presId="urn:microsoft.com/office/officeart/2005/8/layout/hierarchy3"/>
    <dgm:cxn modelId="{830768B0-92C4-482A-8455-C3C7CC295918}" type="presOf" srcId="{2ACDB314-E935-40C5-AE2D-56A502199C32}" destId="{1FB93C1F-BAC1-4128-8F9C-CE16DEA8E40B}" srcOrd="1" destOrd="0" presId="urn:microsoft.com/office/officeart/2005/8/layout/hierarchy3"/>
    <dgm:cxn modelId="{6DA488B4-38C8-4F41-84BD-A8AA3F17CE7B}" type="presOf" srcId="{86E24F03-971B-4A79-A42D-6A6CCB12F75E}" destId="{3C05B7DF-E098-4C7B-9036-CAC49C6CA0B5}" srcOrd="0" destOrd="0" presId="urn:microsoft.com/office/officeart/2005/8/layout/hierarchy3"/>
    <dgm:cxn modelId="{A68E43DD-2803-4018-9FFA-090769821265}" type="presOf" srcId="{2ACDB314-E935-40C5-AE2D-56A502199C32}" destId="{FCB42999-C763-4758-A096-BF307FBF19A2}" srcOrd="0" destOrd="0" presId="urn:microsoft.com/office/officeart/2005/8/layout/hierarchy3"/>
    <dgm:cxn modelId="{A02715ED-A2EE-4EB1-A958-54256DE7FFF5}" srcId="{CB581F39-5BA0-4C62-8F76-407C90F7498C}" destId="{2ACDB314-E935-40C5-AE2D-56A502199C32}" srcOrd="2" destOrd="0" parTransId="{5CB6D696-4716-4A72-89B4-BA44384416F5}" sibTransId="{C8227C86-75BC-4AE9-9983-54DCEC104D08}"/>
    <dgm:cxn modelId="{C7F9B9DA-A20A-4DE8-882B-C283E5812ADD}" type="presParOf" srcId="{F02D1F67-F9EA-41C2-9E10-E6B95DD9B0EC}" destId="{A28C8CAB-F2BF-46DA-BACF-F172BE54BDAC}" srcOrd="0" destOrd="0" presId="urn:microsoft.com/office/officeart/2005/8/layout/hierarchy3"/>
    <dgm:cxn modelId="{A4F8DE84-E8F5-4202-ACBE-38F2561B8B84}" type="presParOf" srcId="{A28C8CAB-F2BF-46DA-BACF-F172BE54BDAC}" destId="{32A9068C-0554-4030-B327-1770DA904D13}" srcOrd="0" destOrd="0" presId="urn:microsoft.com/office/officeart/2005/8/layout/hierarchy3"/>
    <dgm:cxn modelId="{F9BCB4A9-9758-43E9-AE9B-58BDAC268F3D}" type="presParOf" srcId="{32A9068C-0554-4030-B327-1770DA904D13}" destId="{962B3EEA-C8FA-46DB-9D21-45A310BC3BA3}" srcOrd="0" destOrd="0" presId="urn:microsoft.com/office/officeart/2005/8/layout/hierarchy3"/>
    <dgm:cxn modelId="{482E4E30-B07E-44EA-A566-C5C658BFE43F}" type="presParOf" srcId="{32A9068C-0554-4030-B327-1770DA904D13}" destId="{62974F77-2107-4361-8D7B-084856110C4A}" srcOrd="1" destOrd="0" presId="urn:microsoft.com/office/officeart/2005/8/layout/hierarchy3"/>
    <dgm:cxn modelId="{A3C6EE71-C549-48AB-BCEE-5B0E1F09C2E3}" type="presParOf" srcId="{A28C8CAB-F2BF-46DA-BACF-F172BE54BDAC}" destId="{B4B27635-C09F-4203-A06E-4B046A25F1E5}" srcOrd="1" destOrd="0" presId="urn:microsoft.com/office/officeart/2005/8/layout/hierarchy3"/>
    <dgm:cxn modelId="{8FFAF7A8-5C13-4C70-8F96-3B478D16B87F}" type="presParOf" srcId="{F02D1F67-F9EA-41C2-9E10-E6B95DD9B0EC}" destId="{44529B86-BC37-4A10-B13E-62D1DF333910}" srcOrd="1" destOrd="0" presId="urn:microsoft.com/office/officeart/2005/8/layout/hierarchy3"/>
    <dgm:cxn modelId="{BF4FD25D-617A-44C5-965C-5EC977DDF4A1}" type="presParOf" srcId="{44529B86-BC37-4A10-B13E-62D1DF333910}" destId="{3A9D31A4-F00E-4CC4-9C02-E8540A1F4DA1}" srcOrd="0" destOrd="0" presId="urn:microsoft.com/office/officeart/2005/8/layout/hierarchy3"/>
    <dgm:cxn modelId="{7C6D4EC9-A562-4DDA-9FF7-F8ACED286A60}" type="presParOf" srcId="{3A9D31A4-F00E-4CC4-9C02-E8540A1F4DA1}" destId="{3C05B7DF-E098-4C7B-9036-CAC49C6CA0B5}" srcOrd="0" destOrd="0" presId="urn:microsoft.com/office/officeart/2005/8/layout/hierarchy3"/>
    <dgm:cxn modelId="{759ACBBF-235E-410F-BD73-674C8C760D89}" type="presParOf" srcId="{3A9D31A4-F00E-4CC4-9C02-E8540A1F4DA1}" destId="{ED1FADE3-E3ED-4DFC-8033-3061812B76CD}" srcOrd="1" destOrd="0" presId="urn:microsoft.com/office/officeart/2005/8/layout/hierarchy3"/>
    <dgm:cxn modelId="{19ACD3F4-C655-44C0-A90B-6D33EDD832FD}" type="presParOf" srcId="{44529B86-BC37-4A10-B13E-62D1DF333910}" destId="{18E9B5AC-F79E-412E-8881-3DE4104AD8A2}" srcOrd="1" destOrd="0" presId="urn:microsoft.com/office/officeart/2005/8/layout/hierarchy3"/>
    <dgm:cxn modelId="{22454BA0-1F57-47BE-B2B6-BA637BC8D095}" type="presParOf" srcId="{F02D1F67-F9EA-41C2-9E10-E6B95DD9B0EC}" destId="{C2AD80A5-4F17-445A-84E1-693EDEDE5420}" srcOrd="2" destOrd="0" presId="urn:microsoft.com/office/officeart/2005/8/layout/hierarchy3"/>
    <dgm:cxn modelId="{75B903E5-F262-41BE-95A3-F78E2D09194F}" type="presParOf" srcId="{C2AD80A5-4F17-445A-84E1-693EDEDE5420}" destId="{E4B71C23-5543-4DB2-9AC0-8A0B92B43D5E}" srcOrd="0" destOrd="0" presId="urn:microsoft.com/office/officeart/2005/8/layout/hierarchy3"/>
    <dgm:cxn modelId="{182F9117-7831-4143-845B-93A43877D2C1}" type="presParOf" srcId="{E4B71C23-5543-4DB2-9AC0-8A0B92B43D5E}" destId="{FCB42999-C763-4758-A096-BF307FBF19A2}" srcOrd="0" destOrd="0" presId="urn:microsoft.com/office/officeart/2005/8/layout/hierarchy3"/>
    <dgm:cxn modelId="{17586508-A8A9-4DEB-B5B1-19995EF66A1F}" type="presParOf" srcId="{E4B71C23-5543-4DB2-9AC0-8A0B92B43D5E}" destId="{1FB93C1F-BAC1-4128-8F9C-CE16DEA8E40B}" srcOrd="1" destOrd="0" presId="urn:microsoft.com/office/officeart/2005/8/layout/hierarchy3"/>
    <dgm:cxn modelId="{D7A4E771-223A-42B4-B687-BFA51D3DD276}" type="presParOf" srcId="{C2AD80A5-4F17-445A-84E1-693EDEDE5420}" destId="{1D6409FB-6F5A-48BC-A76D-4B65059BF10A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B3EEA-C8FA-46DB-9D21-45A310BC3BA3}">
      <dsp:nvSpPr>
        <dsp:cNvPr id="0" name=""/>
        <dsp:cNvSpPr/>
      </dsp:nvSpPr>
      <dsp:spPr>
        <a:xfrm>
          <a:off x="906" y="1240306"/>
          <a:ext cx="2122196" cy="106109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Jeffery Richardson</a:t>
          </a:r>
        </a:p>
      </dsp:txBody>
      <dsp:txXfrm>
        <a:off x="31984" y="1271384"/>
        <a:ext cx="2060040" cy="998942"/>
      </dsp:txXfrm>
    </dsp:sp>
    <dsp:sp modelId="{3C05B7DF-E098-4C7B-9036-CAC49C6CA0B5}">
      <dsp:nvSpPr>
        <dsp:cNvPr id="0" name=""/>
        <dsp:cNvSpPr/>
      </dsp:nvSpPr>
      <dsp:spPr>
        <a:xfrm>
          <a:off x="2653651" y="1240306"/>
          <a:ext cx="2122196" cy="1061098"/>
        </a:xfrm>
        <a:prstGeom prst="roundRect">
          <a:avLst>
            <a:gd name="adj" fmla="val 10000"/>
          </a:avLst>
        </a:prstGeom>
        <a:solidFill>
          <a:schemeClr val="accent5">
            <a:hueOff val="-1654278"/>
            <a:satOff val="-8885"/>
            <a:lumOff val="3039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Grand Canyon University</a:t>
          </a:r>
        </a:p>
      </dsp:txBody>
      <dsp:txXfrm>
        <a:off x="2684729" y="1271384"/>
        <a:ext cx="2060040" cy="998942"/>
      </dsp:txXfrm>
    </dsp:sp>
    <dsp:sp modelId="{FCB42999-C763-4758-A096-BF307FBF19A2}">
      <dsp:nvSpPr>
        <dsp:cNvPr id="0" name=""/>
        <dsp:cNvSpPr/>
      </dsp:nvSpPr>
      <dsp:spPr>
        <a:xfrm>
          <a:off x="5306397" y="1240306"/>
          <a:ext cx="2122196" cy="1061098"/>
        </a:xfrm>
        <a:prstGeom prst="roundRect">
          <a:avLst>
            <a:gd name="adj" fmla="val 10000"/>
          </a:avLst>
        </a:prstGeom>
        <a:solidFill>
          <a:schemeClr val="accent5">
            <a:hueOff val="-3308557"/>
            <a:satOff val="-17770"/>
            <a:lumOff val="6078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DSC-590 – Model Insight and Validation</a:t>
          </a:r>
        </a:p>
      </dsp:txBody>
      <dsp:txXfrm>
        <a:off x="5337475" y="1271384"/>
        <a:ext cx="2060040" cy="9989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78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57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9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9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7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82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31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6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2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98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28184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68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7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82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673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564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</p:spPr>
        <p:txBody>
          <a:bodyPr>
            <a:normAutofit/>
          </a:bodyPr>
          <a:lstStyle/>
          <a:p>
            <a:r>
              <a:t>Predicting Diabetes Risk with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3D5C94-E7DE-B8B1-A4E0-70B07C4AF1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8190695"/>
              </p:ext>
            </p:extLst>
          </p:nvPr>
        </p:nvGraphicFramePr>
        <p:xfrm>
          <a:off x="856059" y="2249488"/>
          <a:ext cx="74295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Address rising diabetes prevalence</a:t>
            </a:r>
          </a:p>
          <a:p>
            <a:r>
              <a:t>• Support early clinical intervention</a:t>
            </a:r>
          </a:p>
          <a:p>
            <a:r>
              <a:t>• Evaluate predictive modeling effectiveness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768 patient records</a:t>
            </a:r>
          </a:p>
          <a:p>
            <a:r>
              <a:t>• 8 clinical predictor variables</a:t>
            </a:r>
          </a:p>
          <a:p>
            <a:r>
              <a:t>• Binary diagnostic outcome</a:t>
            </a:r>
          </a:p>
          <a:p>
            <a:r>
              <a:t>• Structured healthcare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Median imputation for invalid zero values</a:t>
            </a:r>
          </a:p>
          <a:p>
            <a:r>
              <a:t>• Standard feature scaling</a:t>
            </a:r>
          </a:p>
          <a:p>
            <a:r>
              <a:t>• 80/20 train-test split</a:t>
            </a:r>
          </a:p>
          <a:p>
            <a:r>
              <a:t>• 5-fold cross-validation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</a:t>
            </a:r>
          </a:p>
          <a:p>
            <a:r>
              <a:t>• Random Forest Classifier</a:t>
            </a:r>
          </a:p>
          <a:p>
            <a:r>
              <a:t>• Support Vector Machine</a:t>
            </a:r>
          </a:p>
          <a:p>
            <a:r>
              <a:t>• GridSearch hyperparameter tuning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">
            <a:extLst>
              <a:ext uri="{FF2B5EF4-FFF2-40B4-BE49-F238E27FC236}">
                <a16:creationId xmlns:a16="http://schemas.microsoft.com/office/drawing/2014/main" id="{E61C8FFB-D7F6-4A1A-9D7E-2AFD6F78C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7" name="Group 266">
            <a:extLst>
              <a:ext uri="{FF2B5EF4-FFF2-40B4-BE49-F238E27FC236}">
                <a16:creationId xmlns:a16="http://schemas.microsoft.com/office/drawing/2014/main" id="{B63FC8BF-EB08-477E-9DBC-241BD99A0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68" name="Rectangle 5">
              <a:extLst>
                <a:ext uri="{FF2B5EF4-FFF2-40B4-BE49-F238E27FC236}">
                  <a16:creationId xmlns:a16="http://schemas.microsoft.com/office/drawing/2014/main" id="{8B4A4BFD-A61E-4D20-8C0E-1444B51CC7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 6">
              <a:extLst>
                <a:ext uri="{FF2B5EF4-FFF2-40B4-BE49-F238E27FC236}">
                  <a16:creationId xmlns:a16="http://schemas.microsoft.com/office/drawing/2014/main" id="{7F6C34FD-95F6-48E6-89C2-F9D8DCA7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 7">
              <a:extLst>
                <a:ext uri="{FF2B5EF4-FFF2-40B4-BE49-F238E27FC236}">
                  <a16:creationId xmlns:a16="http://schemas.microsoft.com/office/drawing/2014/main" id="{2803DEA3-2685-4A46-BBBE-832AFBC505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Rectangle 8">
              <a:extLst>
                <a:ext uri="{FF2B5EF4-FFF2-40B4-BE49-F238E27FC236}">
                  <a16:creationId xmlns:a16="http://schemas.microsoft.com/office/drawing/2014/main" id="{72E7229F-85ED-4F39-BA4C-F2303DEB1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9">
              <a:extLst>
                <a:ext uri="{FF2B5EF4-FFF2-40B4-BE49-F238E27FC236}">
                  <a16:creationId xmlns:a16="http://schemas.microsoft.com/office/drawing/2014/main" id="{DDE59082-72C3-4961-81F1-27AE03FA72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10">
              <a:extLst>
                <a:ext uri="{FF2B5EF4-FFF2-40B4-BE49-F238E27FC236}">
                  <a16:creationId xmlns:a16="http://schemas.microsoft.com/office/drawing/2014/main" id="{6E6345B3-D7A3-4ED8-B131-A2B0201C6F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 11">
              <a:extLst>
                <a:ext uri="{FF2B5EF4-FFF2-40B4-BE49-F238E27FC236}">
                  <a16:creationId xmlns:a16="http://schemas.microsoft.com/office/drawing/2014/main" id="{119230C3-190A-4D7D-B8EE-9D271ED85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 12">
              <a:extLst>
                <a:ext uri="{FF2B5EF4-FFF2-40B4-BE49-F238E27FC236}">
                  <a16:creationId xmlns:a16="http://schemas.microsoft.com/office/drawing/2014/main" id="{013AB612-4DA5-4EF0-B438-3879A521A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 13">
              <a:extLst>
                <a:ext uri="{FF2B5EF4-FFF2-40B4-BE49-F238E27FC236}">
                  <a16:creationId xmlns:a16="http://schemas.microsoft.com/office/drawing/2014/main" id="{D0E3A33A-F799-4D9C-A950-E5252ECA2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14">
              <a:extLst>
                <a:ext uri="{FF2B5EF4-FFF2-40B4-BE49-F238E27FC236}">
                  <a16:creationId xmlns:a16="http://schemas.microsoft.com/office/drawing/2014/main" id="{7584990C-77E8-44D5-9ABF-1A693681AE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15">
              <a:extLst>
                <a:ext uri="{FF2B5EF4-FFF2-40B4-BE49-F238E27FC236}">
                  <a16:creationId xmlns:a16="http://schemas.microsoft.com/office/drawing/2014/main" id="{0BD264AC-126B-4091-A113-25AE5600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16">
              <a:extLst>
                <a:ext uri="{FF2B5EF4-FFF2-40B4-BE49-F238E27FC236}">
                  <a16:creationId xmlns:a16="http://schemas.microsoft.com/office/drawing/2014/main" id="{EE0AD60A-A7CB-492F-8A32-4ADFC2A51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17">
              <a:extLst>
                <a:ext uri="{FF2B5EF4-FFF2-40B4-BE49-F238E27FC236}">
                  <a16:creationId xmlns:a16="http://schemas.microsoft.com/office/drawing/2014/main" id="{472BE961-C309-4F29-92A0-78F730583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18">
              <a:extLst>
                <a:ext uri="{FF2B5EF4-FFF2-40B4-BE49-F238E27FC236}">
                  <a16:creationId xmlns:a16="http://schemas.microsoft.com/office/drawing/2014/main" id="{BAC3F0D7-5E24-4F95-B091-C4C884E3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19">
              <a:extLst>
                <a:ext uri="{FF2B5EF4-FFF2-40B4-BE49-F238E27FC236}">
                  <a16:creationId xmlns:a16="http://schemas.microsoft.com/office/drawing/2014/main" id="{D7FFB211-F2F7-4444-99AD-67B6A2257D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 20">
              <a:extLst>
                <a:ext uri="{FF2B5EF4-FFF2-40B4-BE49-F238E27FC236}">
                  <a16:creationId xmlns:a16="http://schemas.microsoft.com/office/drawing/2014/main" id="{E7D22BFF-69DE-4C26-959E-38007D8B8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 21">
              <a:extLst>
                <a:ext uri="{FF2B5EF4-FFF2-40B4-BE49-F238E27FC236}">
                  <a16:creationId xmlns:a16="http://schemas.microsoft.com/office/drawing/2014/main" id="{BF131BB9-B84F-4EB4-BEE0-D3491486B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 22">
              <a:extLst>
                <a:ext uri="{FF2B5EF4-FFF2-40B4-BE49-F238E27FC236}">
                  <a16:creationId xmlns:a16="http://schemas.microsoft.com/office/drawing/2014/main" id="{1BF1979E-49E6-425A-B362-310EA38330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23">
              <a:extLst>
                <a:ext uri="{FF2B5EF4-FFF2-40B4-BE49-F238E27FC236}">
                  <a16:creationId xmlns:a16="http://schemas.microsoft.com/office/drawing/2014/main" id="{EE0FC7A6-C966-4F65-916C-AFBE2A44F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 24">
              <a:extLst>
                <a:ext uri="{FF2B5EF4-FFF2-40B4-BE49-F238E27FC236}">
                  <a16:creationId xmlns:a16="http://schemas.microsoft.com/office/drawing/2014/main" id="{A7FE8DB7-4322-40FC-9892-30BBC0E0BB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 25">
              <a:extLst>
                <a:ext uri="{FF2B5EF4-FFF2-40B4-BE49-F238E27FC236}">
                  <a16:creationId xmlns:a16="http://schemas.microsoft.com/office/drawing/2014/main" id="{7F69C2A1-E8E6-4C6C-B341-2C52E8D9E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 26">
              <a:extLst>
                <a:ext uri="{FF2B5EF4-FFF2-40B4-BE49-F238E27FC236}">
                  <a16:creationId xmlns:a16="http://schemas.microsoft.com/office/drawing/2014/main" id="{0F1BFC80-2254-492D-B5E5-535761153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27">
              <a:extLst>
                <a:ext uri="{FF2B5EF4-FFF2-40B4-BE49-F238E27FC236}">
                  <a16:creationId xmlns:a16="http://schemas.microsoft.com/office/drawing/2014/main" id="{369B0736-D8B9-4EC4-B1C8-AA8731D16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28">
              <a:extLst>
                <a:ext uri="{FF2B5EF4-FFF2-40B4-BE49-F238E27FC236}">
                  <a16:creationId xmlns:a16="http://schemas.microsoft.com/office/drawing/2014/main" id="{36C2B0A7-3EE7-4890-8E4B-B59086A2B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29">
              <a:extLst>
                <a:ext uri="{FF2B5EF4-FFF2-40B4-BE49-F238E27FC236}">
                  <a16:creationId xmlns:a16="http://schemas.microsoft.com/office/drawing/2014/main" id="{CD3E4BAA-64B6-4059-9B0B-83114CB3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30">
              <a:extLst>
                <a:ext uri="{FF2B5EF4-FFF2-40B4-BE49-F238E27FC236}">
                  <a16:creationId xmlns:a16="http://schemas.microsoft.com/office/drawing/2014/main" id="{2E1F2D13-EB97-48F7-BEEF-405E0C5C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31">
              <a:extLst>
                <a:ext uri="{FF2B5EF4-FFF2-40B4-BE49-F238E27FC236}">
                  <a16:creationId xmlns:a16="http://schemas.microsoft.com/office/drawing/2014/main" id="{A209EE56-61E9-4B41-B896-BB9D95FA1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32">
              <a:extLst>
                <a:ext uri="{FF2B5EF4-FFF2-40B4-BE49-F238E27FC236}">
                  <a16:creationId xmlns:a16="http://schemas.microsoft.com/office/drawing/2014/main" id="{4081C9A3-54DF-4ED1-97B9-04FFD6F4C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Rectangle 33">
              <a:extLst>
                <a:ext uri="{FF2B5EF4-FFF2-40B4-BE49-F238E27FC236}">
                  <a16:creationId xmlns:a16="http://schemas.microsoft.com/office/drawing/2014/main" id="{7C4B8CBC-248B-41F3-AB7E-301A54555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34">
              <a:extLst>
                <a:ext uri="{FF2B5EF4-FFF2-40B4-BE49-F238E27FC236}">
                  <a16:creationId xmlns:a16="http://schemas.microsoft.com/office/drawing/2014/main" id="{B5FB4B92-D64C-471B-80B8-97FC372DF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35">
              <a:extLst>
                <a:ext uri="{FF2B5EF4-FFF2-40B4-BE49-F238E27FC236}">
                  <a16:creationId xmlns:a16="http://schemas.microsoft.com/office/drawing/2014/main" id="{78686756-7B93-470E-A1B0-60E46D81C6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Freeform 36">
              <a:extLst>
                <a:ext uri="{FF2B5EF4-FFF2-40B4-BE49-F238E27FC236}">
                  <a16:creationId xmlns:a16="http://schemas.microsoft.com/office/drawing/2014/main" id="{D918D4D4-1175-409D-BF95-B62D9060A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37">
              <a:extLst>
                <a:ext uri="{FF2B5EF4-FFF2-40B4-BE49-F238E27FC236}">
                  <a16:creationId xmlns:a16="http://schemas.microsoft.com/office/drawing/2014/main" id="{29851EE5-64A7-43A8-8A7C-814C5E469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Freeform 38">
              <a:extLst>
                <a:ext uri="{FF2B5EF4-FFF2-40B4-BE49-F238E27FC236}">
                  <a16:creationId xmlns:a16="http://schemas.microsoft.com/office/drawing/2014/main" id="{4390DAD0-CE3B-44A3-AE9A-C88588382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Freeform 39">
              <a:extLst>
                <a:ext uri="{FF2B5EF4-FFF2-40B4-BE49-F238E27FC236}">
                  <a16:creationId xmlns:a16="http://schemas.microsoft.com/office/drawing/2014/main" id="{641568AB-9F6E-4180-84A3-41FF97558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40">
              <a:extLst>
                <a:ext uri="{FF2B5EF4-FFF2-40B4-BE49-F238E27FC236}">
                  <a16:creationId xmlns:a16="http://schemas.microsoft.com/office/drawing/2014/main" id="{465141B8-FB60-4B2E-BEDD-512F23A63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41">
              <a:extLst>
                <a:ext uri="{FF2B5EF4-FFF2-40B4-BE49-F238E27FC236}">
                  <a16:creationId xmlns:a16="http://schemas.microsoft.com/office/drawing/2014/main" id="{49458B2E-DE0D-4C65-982E-7BA7E9BF1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42">
              <a:extLst>
                <a:ext uri="{FF2B5EF4-FFF2-40B4-BE49-F238E27FC236}">
                  <a16:creationId xmlns:a16="http://schemas.microsoft.com/office/drawing/2014/main" id="{9415C78B-E872-4721-BE4A-FA7DEA6EAC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43">
              <a:extLst>
                <a:ext uri="{FF2B5EF4-FFF2-40B4-BE49-F238E27FC236}">
                  <a16:creationId xmlns:a16="http://schemas.microsoft.com/office/drawing/2014/main" id="{520A0AE2-A5C2-402A-9306-2A07B441E3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44">
              <a:extLst>
                <a:ext uri="{FF2B5EF4-FFF2-40B4-BE49-F238E27FC236}">
                  <a16:creationId xmlns:a16="http://schemas.microsoft.com/office/drawing/2014/main" id="{E6ADFEAC-7594-4FC3-8BE2-320A6621C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Rectangle 45">
              <a:extLst>
                <a:ext uri="{FF2B5EF4-FFF2-40B4-BE49-F238E27FC236}">
                  <a16:creationId xmlns:a16="http://schemas.microsoft.com/office/drawing/2014/main" id="{810D6E3C-3FC8-4321-963C-1FD85ECBC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46">
              <a:extLst>
                <a:ext uri="{FF2B5EF4-FFF2-40B4-BE49-F238E27FC236}">
                  <a16:creationId xmlns:a16="http://schemas.microsoft.com/office/drawing/2014/main" id="{F0CD2158-DC95-4CD4-8DDB-C76CCEC1DB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47">
              <a:extLst>
                <a:ext uri="{FF2B5EF4-FFF2-40B4-BE49-F238E27FC236}">
                  <a16:creationId xmlns:a16="http://schemas.microsoft.com/office/drawing/2014/main" id="{C4198508-7F88-42B8-8ADC-72374FFC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Freeform 48">
              <a:extLst>
                <a:ext uri="{FF2B5EF4-FFF2-40B4-BE49-F238E27FC236}">
                  <a16:creationId xmlns:a16="http://schemas.microsoft.com/office/drawing/2014/main" id="{67A57D3B-9539-4ABF-AF4D-3CE3766B0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49">
              <a:extLst>
                <a:ext uri="{FF2B5EF4-FFF2-40B4-BE49-F238E27FC236}">
                  <a16:creationId xmlns:a16="http://schemas.microsoft.com/office/drawing/2014/main" id="{DABE98C2-0378-4194-B6F7-F439CDA37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50">
              <a:extLst>
                <a:ext uri="{FF2B5EF4-FFF2-40B4-BE49-F238E27FC236}">
                  <a16:creationId xmlns:a16="http://schemas.microsoft.com/office/drawing/2014/main" id="{9A92F229-E7B2-4C3D-96D0-64FDBCE8E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51">
              <a:extLst>
                <a:ext uri="{FF2B5EF4-FFF2-40B4-BE49-F238E27FC236}">
                  <a16:creationId xmlns:a16="http://schemas.microsoft.com/office/drawing/2014/main" id="{8667BBE3-48F3-4158-AD52-4DD694DEDB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52">
              <a:extLst>
                <a:ext uri="{FF2B5EF4-FFF2-40B4-BE49-F238E27FC236}">
                  <a16:creationId xmlns:a16="http://schemas.microsoft.com/office/drawing/2014/main" id="{FAA0C439-D89A-4C11-8C80-1EB33DF67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53">
              <a:extLst>
                <a:ext uri="{FF2B5EF4-FFF2-40B4-BE49-F238E27FC236}">
                  <a16:creationId xmlns:a16="http://schemas.microsoft.com/office/drawing/2014/main" id="{B0189034-43EC-4EBF-AD59-D458DC262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54">
              <a:extLst>
                <a:ext uri="{FF2B5EF4-FFF2-40B4-BE49-F238E27FC236}">
                  <a16:creationId xmlns:a16="http://schemas.microsoft.com/office/drawing/2014/main" id="{1196CB4F-95EF-48A8-84AC-C87B39941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55">
              <a:extLst>
                <a:ext uri="{FF2B5EF4-FFF2-40B4-BE49-F238E27FC236}">
                  <a16:creationId xmlns:a16="http://schemas.microsoft.com/office/drawing/2014/main" id="{9B2E7C2A-8E95-4BA2-95B3-F94A61891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56">
              <a:extLst>
                <a:ext uri="{FF2B5EF4-FFF2-40B4-BE49-F238E27FC236}">
                  <a16:creationId xmlns:a16="http://schemas.microsoft.com/office/drawing/2014/main" id="{E439DF20-C773-4299-9648-61C33CDBC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57">
              <a:extLst>
                <a:ext uri="{FF2B5EF4-FFF2-40B4-BE49-F238E27FC236}">
                  <a16:creationId xmlns:a16="http://schemas.microsoft.com/office/drawing/2014/main" id="{6AE94AB4-284F-4574-8B8F-C02501A68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58">
              <a:extLst>
                <a:ext uri="{FF2B5EF4-FFF2-40B4-BE49-F238E27FC236}">
                  <a16:creationId xmlns:a16="http://schemas.microsoft.com/office/drawing/2014/main" id="{15FFBF6C-ADFD-4411-9650-C5FF5D917F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11C555-F9FE-843E-90BA-667170F7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924" y="4539573"/>
            <a:ext cx="6718151" cy="11828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Models of the dataset </a:t>
            </a:r>
          </a:p>
        </p:txBody>
      </p:sp>
      <p:sp>
        <p:nvSpPr>
          <p:cNvPr id="265" name="Round Diagonal Corner Rectangle 6">
            <a:extLst>
              <a:ext uri="{FF2B5EF4-FFF2-40B4-BE49-F238E27FC236}">
                <a16:creationId xmlns:a16="http://schemas.microsoft.com/office/drawing/2014/main" id="{BF64808F-7AB0-4B1E-8E79-6D969BCE8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0230" y="639965"/>
            <a:ext cx="8159993" cy="3598548"/>
          </a:xfrm>
          <a:prstGeom prst="round2DiagRect">
            <a:avLst>
              <a:gd name="adj1" fmla="val 9529"/>
              <a:gd name="adj2" fmla="val 0"/>
            </a:avLst>
          </a:prstGeom>
          <a:solidFill>
            <a:srgbClr val="FFFFFF"/>
          </a:solidFill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3FFCE-7C3E-288A-CA0A-CAEBFE891E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7" r="4857" b="4"/>
          <a:stretch>
            <a:fillRect/>
          </a:stretch>
        </p:blipFill>
        <p:spPr>
          <a:xfrm>
            <a:off x="740260" y="951493"/>
            <a:ext cx="1839152" cy="2975493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D3ABCE5-F224-A59B-D00F-0EE9FDC6B5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41" r="15002" b="-5"/>
          <a:stretch>
            <a:fillRect/>
          </a:stretch>
        </p:blipFill>
        <p:spPr bwMode="auto">
          <a:xfrm>
            <a:off x="2703461" y="951493"/>
            <a:ext cx="1826224" cy="2975493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60A64A-0E94-322B-690E-466404A95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0" r="28607"/>
          <a:stretch>
            <a:fillRect/>
          </a:stretch>
        </p:blipFill>
        <p:spPr bwMode="auto">
          <a:xfrm>
            <a:off x="4653733" y="951493"/>
            <a:ext cx="1826224" cy="2975493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2CE069-1C42-B272-20F7-B205C30371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7" r="29028" b="-1"/>
          <a:stretch>
            <a:fillRect/>
          </a:stretch>
        </p:blipFill>
        <p:spPr bwMode="auto">
          <a:xfrm>
            <a:off x="6604005" y="951493"/>
            <a:ext cx="1826222" cy="297549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7755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 Accuracy: 83%</a:t>
            </a:r>
          </a:p>
          <a:p>
            <a:r>
              <a:t>• ROC-AUC: 0.87</a:t>
            </a:r>
          </a:p>
          <a:p>
            <a:r>
              <a:t>• Improved sensitivity</a:t>
            </a:r>
          </a:p>
          <a:p>
            <a:r>
              <a:t>• Balanced precision-recall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Predictors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Glucose concentration</a:t>
            </a:r>
          </a:p>
          <a:p>
            <a:r>
              <a:t>• Body Mass Index</a:t>
            </a:r>
          </a:p>
          <a:p>
            <a:r>
              <a:t>• Age</a:t>
            </a:r>
          </a:p>
          <a:p>
            <a:r>
              <a:t>• Insulin levels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Ensemble learning improved prediction</a:t>
            </a:r>
          </a:p>
          <a:p>
            <a:r>
              <a:t>• Nonlinear patterns captured effectively</a:t>
            </a:r>
          </a:p>
          <a:p>
            <a:r>
              <a:t>• Clinical screening potential demonstrated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Limited sample size</a:t>
            </a:r>
          </a:p>
          <a:p>
            <a:r>
              <a:t>• Single-population dataset</a:t>
            </a:r>
          </a:p>
          <a:p>
            <a:r>
              <a:t>• No external validation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Broader population validation</a:t>
            </a:r>
          </a:p>
          <a:p>
            <a:r>
              <a:t>• Explainable AI integration</a:t>
            </a:r>
          </a:p>
          <a:p>
            <a:r>
              <a:t>• Deployment within EHR systems</a:t>
            </a:r>
          </a:p>
          <a:p>
            <a:r>
              <a:t>• Continuous bias monitoring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23</TotalTime>
  <Words>175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Tw Cen MT</vt:lpstr>
      <vt:lpstr>Circuit</vt:lpstr>
      <vt:lpstr>Predicting Diabetes Risk with Machine Learning</vt:lpstr>
      <vt:lpstr>Project Purpose</vt:lpstr>
      <vt:lpstr>Dataset Description</vt:lpstr>
      <vt:lpstr>Data Preparation</vt:lpstr>
      <vt:lpstr>Models Evaluated</vt:lpstr>
      <vt:lpstr>Models of the dataset </vt:lpstr>
      <vt:lpstr>Model Performance</vt:lpstr>
      <vt:lpstr>Key Predictors</vt:lpstr>
      <vt:lpstr>Interpretation</vt:lpstr>
      <vt:lpstr>Limitations</vt:lpstr>
      <vt:lpstr>Future Directions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Jeffery Richardson</cp:lastModifiedBy>
  <cp:revision>4</cp:revision>
  <dcterms:created xsi:type="dcterms:W3CDTF">2013-01-27T09:14:16Z</dcterms:created>
  <dcterms:modified xsi:type="dcterms:W3CDTF">2026-02-25T23:13:41Z</dcterms:modified>
  <cp:category/>
</cp:coreProperties>
</file>