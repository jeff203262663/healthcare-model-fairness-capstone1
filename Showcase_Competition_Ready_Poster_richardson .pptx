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1" d="100"/>
          <a:sy n="21" d="100"/>
        </p:scale>
        <p:origin x="354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4B0CB-5562-46C0-AD41-A5495158B93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26C4B-F2AA-44E7-BDA4-C51CE9232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30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I’m Jeffery Richardson, and this project focuses on predicting diabetes risk using machine learning and structured clinical health data.</a:t>
            </a:r>
          </a:p>
          <a:p>
            <a:endParaRPr lang="en-US" dirty="0"/>
          </a:p>
          <a:p>
            <a:r>
              <a:rPr lang="en-US" dirty="0"/>
              <a:t>Diabetes remains one of the most common chronic conditions in the U.S., and early detection is critical. The goal of this project was to develop a predictive model that could identify individuals at higher risk before serious complications develop.</a:t>
            </a:r>
          </a:p>
          <a:p>
            <a:endParaRPr lang="en-US" dirty="0"/>
          </a:p>
          <a:p>
            <a:r>
              <a:rPr lang="en-US" dirty="0"/>
              <a:t>I used the Pima Indians Diabetes dataset, which includes 768 patient records and eight clinical indicators such as glucose level, BMI, age, and insulin measurements. I framed the problem as a supervised binary classification task and evaluated several models, including Logistic Regression, Support Vector Machines, K-Nearest Neighbors, and Random Forest.</a:t>
            </a:r>
          </a:p>
          <a:p>
            <a:endParaRPr lang="en-US" dirty="0"/>
          </a:p>
          <a:p>
            <a:r>
              <a:rPr lang="en-US" dirty="0"/>
              <a:t>The Random Forest model performed best, achieving 82% accuracy with a ROC-AUC of 0.87. More importantly, it maintained a very low false-negative rate, which is especially important in healthcare settings where missed diagnoses can have serious consequences.</a:t>
            </a:r>
          </a:p>
          <a:p>
            <a:endParaRPr lang="en-US" dirty="0"/>
          </a:p>
          <a:p>
            <a:r>
              <a:rPr lang="en-US" dirty="0"/>
              <a:t>Feature importance analysis showed that glucose, BMI, and age were the strongest predictors — which aligns well with established clinical knowledge. That consistency increases confidence in the model’s reliability.</a:t>
            </a:r>
          </a:p>
          <a:p>
            <a:endParaRPr lang="en-US" dirty="0"/>
          </a:p>
          <a:p>
            <a:r>
              <a:rPr lang="en-US" dirty="0"/>
              <a:t>Overall, this project demonstrates how machine learning can be applied in a practical and responsible way to support early screening efforts and data-driven decision-making in healthcare.</a:t>
            </a:r>
          </a:p>
          <a:p>
            <a:endParaRPr lang="en-US" dirty="0"/>
          </a:p>
          <a:p>
            <a:r>
              <a:rPr lang="en-US" dirty="0"/>
              <a:t>Thank you — I’m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26C4B-F2AA-44E7-BDA4-C51CE9232D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59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826C4B-F2AA-44E7-BDA4-C51CE9232D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0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89666" y="5387342"/>
            <a:ext cx="37311878" cy="11460480"/>
          </a:xfrm>
        </p:spPr>
        <p:txBody>
          <a:bodyPr anchor="b">
            <a:normAutofit/>
          </a:bodyPr>
          <a:lstStyle>
            <a:lvl1pPr algn="ctr">
              <a:defRPr sz="23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666" y="17289782"/>
            <a:ext cx="37311878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7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3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279" y="3154692"/>
            <a:ext cx="35040643" cy="13693138"/>
          </a:xfrm>
        </p:spPr>
        <p:txBody>
          <a:bodyPr anchor="b">
            <a:normAutofit/>
          </a:bodyPr>
          <a:lstStyle>
            <a:lvl1pPr>
              <a:defRPr sz="16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5279" y="17289789"/>
            <a:ext cx="35040643" cy="7200898"/>
          </a:xfrm>
        </p:spPr>
        <p:txBody>
          <a:bodyPr/>
          <a:lstStyle>
            <a:lvl1pPr marL="0" indent="0" algn="ctr">
              <a:buNone/>
              <a:defRPr sz="1152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3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8" y="2926087"/>
            <a:ext cx="37273541" cy="63663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89663" y="10023938"/>
            <a:ext cx="18381614" cy="17773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24250" y="10023938"/>
            <a:ext cx="18338957" cy="17773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0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8" y="2926087"/>
            <a:ext cx="37273541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94050" y="10023936"/>
            <a:ext cx="17281565" cy="3954778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9661" y="13978714"/>
            <a:ext cx="18385949" cy="13819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24306" y="10023936"/>
            <a:ext cx="17238898" cy="3954778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13978714"/>
            <a:ext cx="18343286" cy="13819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5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304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87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21" y="2926080"/>
            <a:ext cx="14156054" cy="11338560"/>
          </a:xfrm>
        </p:spPr>
        <p:txBody>
          <a:bodyPr anchor="b">
            <a:normAutofit/>
          </a:bodyPr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1033" y="2926080"/>
            <a:ext cx="22282171" cy="248716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2021" y="14264647"/>
            <a:ext cx="14156054" cy="13533115"/>
          </a:xfrm>
        </p:spPr>
        <p:txBody>
          <a:bodyPr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23" y="2926080"/>
            <a:ext cx="20004494" cy="11338560"/>
          </a:xfrm>
        </p:spPr>
        <p:txBody>
          <a:bodyPr anchor="b">
            <a:normAutofit/>
          </a:bodyPr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199674" y="3642629"/>
            <a:ext cx="14241302" cy="23438582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1" y="14264640"/>
            <a:ext cx="20021962" cy="13533120"/>
          </a:xfrm>
        </p:spPr>
        <p:txBody>
          <a:bodyPr>
            <a:normAutofit/>
          </a:bodyPr>
          <a:lstStyle>
            <a:lvl1pPr marL="0" indent="0" algn="ctr">
              <a:buNone/>
              <a:defRPr sz="864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8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707" y="20588993"/>
            <a:ext cx="37323230" cy="3932904"/>
          </a:xfrm>
        </p:spPr>
        <p:txBody>
          <a:bodyPr anchor="b">
            <a:normAutofit/>
          </a:bodyPr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89707" y="2982348"/>
            <a:ext cx="37323230" cy="1622272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3" y="24521894"/>
            <a:ext cx="37317595" cy="3275866"/>
          </a:xfrm>
        </p:spPr>
        <p:txBody>
          <a:bodyPr>
            <a:normAutofit/>
          </a:bodyPr>
          <a:lstStyle>
            <a:lvl1pPr marL="0" indent="0" algn="ctr">
              <a:buNone/>
              <a:defRPr sz="864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9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661" y="2926087"/>
            <a:ext cx="37273546" cy="16439323"/>
          </a:xfrm>
        </p:spPr>
        <p:txBody>
          <a:bodyPr anchor="ctr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8" y="20183136"/>
            <a:ext cx="37273541" cy="7642493"/>
          </a:xfrm>
        </p:spPr>
        <p:txBody>
          <a:bodyPr anchor="ctr"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57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6363" y="2926080"/>
            <a:ext cx="33489907" cy="14365939"/>
          </a:xfrm>
        </p:spPr>
        <p:txBody>
          <a:bodyPr anchor="ctr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94323" y="17328153"/>
            <a:ext cx="31508275" cy="2048698"/>
          </a:xfrm>
        </p:spPr>
        <p:txBody>
          <a:bodyPr anchor="t">
            <a:normAutofit/>
          </a:bodyPr>
          <a:lstStyle>
            <a:lvl1pPr marL="0" indent="0" algn="r">
              <a:buNone/>
              <a:defRPr sz="672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56" y="20183141"/>
            <a:ext cx="37273546" cy="76146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425176" y="3080395"/>
            <a:ext cx="2194560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8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44261" y="14752205"/>
            <a:ext cx="2194560" cy="2806925"/>
          </a:xfrm>
          <a:prstGeom prst="rect">
            <a:avLst/>
          </a:prstGeom>
        </p:spPr>
        <p:txBody>
          <a:bodyPr vert="horz" lIns="438912" tIns="219456" rIns="438912" bIns="219456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38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1061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9706" y="10209329"/>
            <a:ext cx="37279176" cy="12056808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89661" y="22322669"/>
            <a:ext cx="37273546" cy="5475091"/>
          </a:xfrm>
        </p:spPr>
        <p:txBody>
          <a:bodyPr anchor="t"/>
          <a:lstStyle>
            <a:lvl1pPr marL="0" indent="0" algn="ctr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09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289656" y="2926087"/>
            <a:ext cx="37273546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289663" y="10023938"/>
            <a:ext cx="11876242" cy="395186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3289663" y="13975795"/>
            <a:ext cx="11876242" cy="13821965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001561" y="10023936"/>
            <a:ext cx="11874811" cy="395185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6001563" y="13975795"/>
            <a:ext cx="11879357" cy="13821965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8703875" y="10023936"/>
            <a:ext cx="11848358" cy="395185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152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8714848" y="13975795"/>
            <a:ext cx="11848358" cy="13821965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94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289661" y="2926087"/>
            <a:ext cx="37273546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3289666" y="19147905"/>
            <a:ext cx="11876237" cy="276605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3931272" y="10042728"/>
            <a:ext cx="10584182" cy="73152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3289666" y="21913963"/>
            <a:ext cx="11876237" cy="5883802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993727" y="19147905"/>
            <a:ext cx="11876338" cy="276605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6448386" y="10042728"/>
            <a:ext cx="10549891" cy="73152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5988853" y="21913958"/>
            <a:ext cx="11881210" cy="5883802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8704324" y="19147905"/>
            <a:ext cx="11843640" cy="276605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9600" b="0">
                <a:solidFill>
                  <a:schemeClr val="tx1"/>
                </a:solidFill>
              </a:defRPr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350097" y="10042728"/>
            <a:ext cx="10555608" cy="73152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7680"/>
            </a:lvl1pPr>
            <a:lvl2pPr marL="2194560" indent="0">
              <a:buNone/>
              <a:defRPr sz="7680"/>
            </a:lvl2pPr>
            <a:lvl3pPr marL="4389120" indent="0">
              <a:buNone/>
              <a:defRPr sz="7680"/>
            </a:lvl3pPr>
            <a:lvl4pPr marL="6583680" indent="0">
              <a:buNone/>
              <a:defRPr sz="7680"/>
            </a:lvl4pPr>
            <a:lvl5pPr marL="8778240" indent="0">
              <a:buNone/>
              <a:defRPr sz="7680"/>
            </a:lvl5pPr>
            <a:lvl6pPr marL="10972800" indent="0">
              <a:buNone/>
              <a:defRPr sz="7680"/>
            </a:lvl6pPr>
            <a:lvl7pPr marL="13167360" indent="0">
              <a:buNone/>
              <a:defRPr sz="7680"/>
            </a:lvl7pPr>
            <a:lvl8pPr marL="15361920" indent="0">
              <a:buNone/>
              <a:defRPr sz="7680"/>
            </a:lvl8pPr>
            <a:lvl9pPr marL="17556480" indent="0">
              <a:buNone/>
              <a:defRPr sz="7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8703871" y="21913968"/>
            <a:ext cx="11859331" cy="5883792"/>
          </a:xfrm>
        </p:spPr>
        <p:txBody>
          <a:bodyPr anchor="t">
            <a:normAutofit/>
          </a:bodyPr>
          <a:lstStyle>
            <a:lvl1pPr marL="0" indent="0" algn="ctr">
              <a:buNone/>
              <a:defRPr sz="6720"/>
            </a:lvl1pPr>
            <a:lvl2pPr marL="2194560" indent="0">
              <a:buNone/>
              <a:defRPr sz="5760"/>
            </a:lvl2pPr>
            <a:lvl3pPr marL="4389120" indent="0">
              <a:buNone/>
              <a:defRPr sz="4800"/>
            </a:lvl3pPr>
            <a:lvl4pPr marL="6583680" indent="0">
              <a:buNone/>
              <a:defRPr sz="4320"/>
            </a:lvl4pPr>
            <a:lvl5pPr marL="8778240" indent="0">
              <a:buNone/>
              <a:defRPr sz="4320"/>
            </a:lvl5pPr>
            <a:lvl6pPr marL="10972800" indent="0">
              <a:buNone/>
              <a:defRPr sz="4320"/>
            </a:lvl6pPr>
            <a:lvl7pPr marL="13167360" indent="0">
              <a:buNone/>
              <a:defRPr sz="4320"/>
            </a:lvl7pPr>
            <a:lvl8pPr marL="15361920" indent="0">
              <a:buNone/>
              <a:defRPr sz="4320"/>
            </a:lvl8pPr>
            <a:lvl9pPr marL="17556480" indent="0">
              <a:buNone/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54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14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3" y="2926082"/>
            <a:ext cx="9153566" cy="248716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89663" y="2926082"/>
            <a:ext cx="27571339" cy="248716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80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89668" y="2926087"/>
            <a:ext cx="37273541" cy="636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89661" y="10061107"/>
            <a:ext cx="37273546" cy="17736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43450" y="2823972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9663" y="28239727"/>
            <a:ext cx="24022315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850446" y="28239727"/>
            <a:ext cx="2712763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95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389120" rtl="0" eaLnBrk="1" latinLnBrk="0" hangingPunct="1">
        <a:lnSpc>
          <a:spcPct val="90000"/>
        </a:lnSpc>
        <a:spcBef>
          <a:spcPct val="0"/>
        </a:spcBef>
        <a:buNone/>
        <a:defRPr sz="1632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120000"/>
        </a:lnSpc>
        <a:spcBef>
          <a:spcPts val="48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120000"/>
        </a:lnSpc>
        <a:spcBef>
          <a:spcPts val="24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C7C6-5DD0-F03F-E09F-E193A9CC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48508920" cy="35569842"/>
          </a:xfrm>
        </p:spPr>
        <p:txBody>
          <a:bodyPr>
            <a:normAutofit/>
          </a:bodyPr>
          <a:lstStyle/>
          <a:p>
            <a:r>
              <a:rPr lang="en-US" dirty="0"/>
              <a:t>Machine Learning–Driven Diabetes Risk Prediction Using Clinical Health Data  </a:t>
            </a:r>
            <a:br>
              <a:rPr lang="en-US" dirty="0"/>
            </a:br>
            <a:r>
              <a:rPr lang="en-US" dirty="0"/>
              <a:t>Jeffery Richardson  </a:t>
            </a:r>
            <a:br>
              <a:rPr lang="en-US" dirty="0"/>
            </a:br>
            <a:r>
              <a:rPr lang="en-US" dirty="0"/>
              <a:t>Grand Canyon University | MS Data Science</a:t>
            </a:r>
          </a:p>
        </p:txBody>
      </p:sp>
    </p:spTree>
    <p:extLst>
      <p:ext uri="{BB962C8B-B14F-4D97-AF65-F5344CB8AC3E}">
        <p14:creationId xmlns:p14="http://schemas.microsoft.com/office/powerpoint/2010/main" val="272743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891200" cy="2743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4206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Machine Learning–Driven Diabetes Risk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206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Jeffery Richardson | Grand Canyon University | MS Data Science</a:t>
            </a:r>
          </a:p>
        </p:txBody>
      </p:sp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657600"/>
            <a:ext cx="16459200" cy="12344400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0" y="3657600"/>
            <a:ext cx="16459200" cy="12344400"/>
          </a:xfrm>
          <a:prstGeom prst="rect">
            <a:avLst/>
          </a:prstGeom>
        </p:spPr>
      </p:pic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8288000"/>
            <a:ext cx="16459200" cy="12344400"/>
          </a:xfrm>
          <a:prstGeom prst="rect">
            <a:avLst/>
          </a:prstGeom>
        </p:spPr>
      </p:pic>
      <p:pic>
        <p:nvPicPr>
          <p:cNvPr id="8" name="Picture 7" descr="class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0" y="18288000"/>
            <a:ext cx="10972800" cy="8229600"/>
          </a:xfrm>
          <a:prstGeom prst="rect">
            <a:avLst/>
          </a:prstGeom>
        </p:spPr>
      </p:pic>
      <p:pic>
        <p:nvPicPr>
          <p:cNvPr id="9" name="Picture 8" descr="github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0" y="182880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2905C0-AFF0-B887-A7F6-32A420556EA0}"/>
              </a:ext>
            </a:extLst>
          </p:cNvPr>
          <p:cNvSpPr txBox="1"/>
          <p:nvPr/>
        </p:nvSpPr>
        <p:spPr>
          <a:xfrm>
            <a:off x="2331720" y="6949440"/>
            <a:ext cx="40325040" cy="2372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Project Overview</a:t>
            </a:r>
          </a:p>
          <a:p>
            <a:endParaRPr lang="en-US" sz="4800" dirty="0"/>
          </a:p>
          <a:p>
            <a:r>
              <a:rPr lang="en-US" sz="4800" dirty="0"/>
              <a:t>Diabetes is everywhere in the U.S.—it’s one of the most common chronic illnesses people face. Catching it early really does make all the difference for long-term health.</a:t>
            </a:r>
          </a:p>
          <a:p>
            <a:endParaRPr lang="en-US" sz="4800" dirty="0"/>
          </a:p>
          <a:p>
            <a:r>
              <a:rPr lang="en-US" sz="4800" dirty="0"/>
              <a:t>In this project, I set out to build machine learning models that predict who’s at risk for diabetes, using structured clinical data. My goal wasn’t just accuracy; I wanted a model that doctors could trust and actually use—one that’s reliable and makes sense in a healthcare setting.</a:t>
            </a:r>
          </a:p>
          <a:p>
            <a:endParaRPr lang="en-US" sz="4800" dirty="0"/>
          </a:p>
          <a:p>
            <a:r>
              <a:rPr lang="en-US" sz="4800" dirty="0"/>
              <a:t>Project Justification</a:t>
            </a:r>
          </a:p>
          <a:p>
            <a:endParaRPr lang="en-US" sz="4800" dirty="0"/>
          </a:p>
          <a:p>
            <a:r>
              <a:rPr lang="en-US" sz="4800" dirty="0"/>
              <a:t>Hospitals and clinics gather a ton of patient data every day, but a lot of it just sits there. We’re missing opportunities to spot who’s at risk before serious symptoms show up.</a:t>
            </a:r>
          </a:p>
          <a:p>
            <a:endParaRPr lang="en-US" sz="4800" dirty="0"/>
          </a:p>
          <a:p>
            <a:r>
              <a:rPr lang="en-US" sz="4800" dirty="0"/>
              <a:t>By running machine learning on clinical indicators, we can flag people who need attention sooner. Early detection means less suffering, lower costs, and a better shot at preventing complications. This project is a real example of data science stepping out of the classroom and into the exam room.</a:t>
            </a:r>
          </a:p>
          <a:p>
            <a:endParaRPr lang="en-US" sz="4800" dirty="0"/>
          </a:p>
          <a:p>
            <a:r>
              <a:rPr lang="en-US" sz="4800" dirty="0"/>
              <a:t>Methodology</a:t>
            </a:r>
          </a:p>
          <a:p>
            <a:endParaRPr lang="en-US" sz="4800" dirty="0"/>
          </a:p>
          <a:p>
            <a:r>
              <a:rPr lang="en-US" sz="4800" dirty="0"/>
              <a:t>I worked with a dataset of 768 patient records and eight clinical predictors. The task: figure out which patients are at risk for diabetes. It’s a classic supervised binary classification problem.</a:t>
            </a:r>
          </a:p>
          <a:p>
            <a:endParaRPr lang="en-US" sz="4800" dirty="0"/>
          </a:p>
          <a:p>
            <a:r>
              <a:rPr lang="en-US" sz="4800" dirty="0"/>
              <a:t>To test how well the models perform on new data, I used an 80/20 train-test split.</a:t>
            </a:r>
          </a:p>
          <a:p>
            <a:endParaRPr lang="en-US" sz="4800" dirty="0"/>
          </a:p>
          <a:p>
            <a:r>
              <a:rPr lang="en-US" sz="4800" dirty="0"/>
              <a:t>Here are the models I compared:</a:t>
            </a:r>
          </a:p>
          <a:p>
            <a:r>
              <a:rPr lang="en-US" sz="4800" dirty="0"/>
              <a:t>• Logistic Regression</a:t>
            </a:r>
          </a:p>
          <a:p>
            <a:r>
              <a:rPr lang="en-US" sz="4800" dirty="0"/>
              <a:t>• Random Forest</a:t>
            </a:r>
          </a:p>
          <a:p>
            <a:r>
              <a:rPr lang="en-US" sz="4800" dirty="0"/>
              <a:t>• Support Vector Machine</a:t>
            </a:r>
          </a:p>
          <a:p>
            <a:r>
              <a:rPr lang="en-US" sz="4800" dirty="0"/>
              <a:t>• K-Nearest Neighbors</a:t>
            </a:r>
          </a:p>
          <a:p>
            <a:endParaRPr lang="en-US" sz="4800" dirty="0"/>
          </a:p>
          <a:p>
            <a:r>
              <a:rPr lang="en-US" sz="4800" dirty="0"/>
              <a:t>I measured each one by accuracy, precision, recall, F1-score, ROC-AUC, and confusion matrix—looking at the results from every angle.</a:t>
            </a:r>
          </a:p>
          <a:p>
            <a:r>
              <a:rPr lang="en-US" sz="4800" dirty="0"/>
              <a:t>340</a:t>
            </a:r>
          </a:p>
        </p:txBody>
      </p:sp>
    </p:spTree>
    <p:extLst>
      <p:ext uri="{BB962C8B-B14F-4D97-AF65-F5344CB8AC3E}">
        <p14:creationId xmlns:p14="http://schemas.microsoft.com/office/powerpoint/2010/main" val="379937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6EF4-A90B-B065-6FB3-31B41550D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278" y="1188732"/>
            <a:ext cx="35040643" cy="2788908"/>
          </a:xfrm>
        </p:spPr>
        <p:txBody>
          <a:bodyPr/>
          <a:lstStyle/>
          <a:p>
            <a:r>
              <a:rPr lang="en-US" dirty="0"/>
              <a:t>Details of the project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5C5485-3AC7-4AA6-4802-D2B021EC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0160" y="5166360"/>
            <a:ext cx="41788079" cy="26609040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Project Justification</a:t>
            </a:r>
          </a:p>
          <a:p>
            <a:endParaRPr lang="en-US" dirty="0"/>
          </a:p>
          <a:p>
            <a:r>
              <a:rPr lang="en-US" dirty="0"/>
              <a:t>Hospitals and clinics gather a ton of patient data every day, but a lot of it just sits there. We’re missing opportunities to spot who’s at risk before serious symptoms show up.</a:t>
            </a:r>
          </a:p>
          <a:p>
            <a:endParaRPr lang="en-US" dirty="0"/>
          </a:p>
          <a:p>
            <a:r>
              <a:rPr lang="en-US" dirty="0"/>
              <a:t>By running machine learning on clinical indicators, we can flag people who need attention sooner. Early detection means less suffering, lower costs, and a better shot at preventing complications. This project is a real example of data science stepping out of the classroom and into the exam room.</a:t>
            </a:r>
          </a:p>
          <a:p>
            <a:endParaRPr lang="en-US" dirty="0"/>
          </a:p>
          <a:p>
            <a:r>
              <a:rPr lang="en-US" dirty="0"/>
              <a:t>Methodology</a:t>
            </a:r>
          </a:p>
          <a:p>
            <a:endParaRPr lang="en-US" dirty="0"/>
          </a:p>
          <a:p>
            <a:r>
              <a:rPr lang="en-US" dirty="0"/>
              <a:t>I worked with a dataset of 768 patient records and eight clinical predictors. The task: figure out which patients are at risk for diabetes. It’s a classic supervised binary classification problem.</a:t>
            </a:r>
          </a:p>
          <a:p>
            <a:endParaRPr lang="en-US" dirty="0"/>
          </a:p>
          <a:p>
            <a:r>
              <a:rPr lang="en-US" dirty="0"/>
              <a:t>To test how well the models perform on new data, I used an 80/20 train-test split.</a:t>
            </a:r>
          </a:p>
          <a:p>
            <a:endParaRPr lang="en-US" dirty="0"/>
          </a:p>
          <a:p>
            <a:r>
              <a:rPr lang="en-US" dirty="0"/>
              <a:t>Here are the models I compared:</a:t>
            </a:r>
          </a:p>
          <a:p>
            <a:r>
              <a:rPr lang="en-US" dirty="0"/>
              <a:t>• Logistic Regression</a:t>
            </a:r>
          </a:p>
          <a:p>
            <a:r>
              <a:rPr lang="en-US" dirty="0"/>
              <a:t>• Random Forest</a:t>
            </a:r>
          </a:p>
          <a:p>
            <a:r>
              <a:rPr lang="en-US" dirty="0"/>
              <a:t>• Support Vector Machine</a:t>
            </a:r>
          </a:p>
          <a:p>
            <a:r>
              <a:rPr lang="en-US" dirty="0"/>
              <a:t>• K-Nearest Neighbors</a:t>
            </a:r>
          </a:p>
          <a:p>
            <a:endParaRPr lang="en-US" dirty="0"/>
          </a:p>
          <a:p>
            <a:r>
              <a:rPr lang="en-US" dirty="0"/>
              <a:t>I measured each one by accuracy, precision, recall, F1-score, ROC-AUC, and confusion matrix—looking at the results from every angle.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122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BEDE0-0262-F3DD-EB5F-FA7EA0B1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199" y="1303038"/>
            <a:ext cx="12171081" cy="12915882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  of the outputs diagrams for the project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FB557-03B1-5CDD-79E4-B7805D0D0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9319" y="1234440"/>
            <a:ext cx="40928961" cy="1382269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dirty="0"/>
              <a:t>The Random Forest model came out on top.</a:t>
            </a:r>
          </a:p>
          <a:p>
            <a:endParaRPr lang="en-US" dirty="0"/>
          </a:p>
          <a:p>
            <a:r>
              <a:rPr lang="en-US" dirty="0"/>
              <a:t>Accuracy: 82%</a:t>
            </a:r>
          </a:p>
          <a:p>
            <a:r>
              <a:rPr lang="en-US" dirty="0"/>
              <a:t>ROC-AUC: 0.87</a:t>
            </a:r>
          </a:p>
          <a:p>
            <a:endParaRPr lang="en-US" dirty="0"/>
          </a:p>
          <a:p>
            <a:r>
              <a:rPr lang="en-US" dirty="0"/>
              <a:t>Confusion Matrix:</a:t>
            </a:r>
          </a:p>
          <a:p>
            <a:r>
              <a:rPr lang="en-US" dirty="0"/>
              <a:t>• True Negatives: 97</a:t>
            </a:r>
          </a:p>
          <a:p>
            <a:r>
              <a:rPr lang="en-US" dirty="0"/>
              <a:t>• False Positives: 4</a:t>
            </a:r>
          </a:p>
          <a:p>
            <a:r>
              <a:rPr lang="en-US" dirty="0"/>
              <a:t>• False Negatives: 1</a:t>
            </a:r>
          </a:p>
          <a:p>
            <a:r>
              <a:rPr lang="en-US" dirty="0"/>
              <a:t>• True Positives: 52</a:t>
            </a:r>
          </a:p>
          <a:p>
            <a:endParaRPr lang="en-US" dirty="0"/>
          </a:p>
          <a:p>
            <a:r>
              <a:rPr lang="en-US" dirty="0"/>
              <a:t>That tiny number of false negatives really matters here. In screening, you don’t want to miss people who actually have diabetes.</a:t>
            </a:r>
          </a:p>
          <a:p>
            <a:endParaRPr lang="en-US" dirty="0"/>
          </a:p>
          <a:p>
            <a:r>
              <a:rPr lang="en-US" dirty="0"/>
              <a:t>The ROC curve tells the same story—the model separates diabetic from non-diabetic cases really well, no matter where you set the threshold.</a:t>
            </a:r>
          </a:p>
          <a:p>
            <a:endParaRPr lang="en-US" dirty="0"/>
          </a:p>
          <a:p>
            <a:r>
              <a:rPr lang="en-US" dirty="0"/>
              <a:t>Feature Importance</a:t>
            </a:r>
          </a:p>
          <a:p>
            <a:endParaRPr lang="en-US" dirty="0"/>
          </a:p>
          <a:p>
            <a:r>
              <a:rPr lang="en-US" dirty="0"/>
              <a:t>When I dug into which features mattered most, four stood out:</a:t>
            </a:r>
          </a:p>
          <a:p>
            <a:endParaRPr lang="en-US" dirty="0"/>
          </a:p>
          <a:p>
            <a:r>
              <a:rPr lang="en-US" dirty="0"/>
              <a:t>1. Glucose</a:t>
            </a:r>
          </a:p>
          <a:p>
            <a:r>
              <a:rPr lang="en-US" dirty="0"/>
              <a:t>2. BMI</a:t>
            </a:r>
          </a:p>
          <a:p>
            <a:r>
              <a:rPr lang="en-US" dirty="0"/>
              <a:t>3. Age</a:t>
            </a:r>
          </a:p>
          <a:p>
            <a:r>
              <a:rPr lang="en-US" dirty="0"/>
              <a:t>4. Diabetes Pedigree Function</a:t>
            </a:r>
          </a:p>
          <a:p>
            <a:endParaRPr lang="en-US" dirty="0"/>
          </a:p>
          <a:p>
            <a:r>
              <a:rPr lang="en-US" dirty="0"/>
              <a:t>Glucose was the heavy hitter, which lines up perfectly with what clinicians already know about diabetes.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2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F5A5-DE9A-F119-9E1A-64BD2E9A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0919" y="-91428"/>
            <a:ext cx="30641961" cy="3657588"/>
          </a:xfrm>
        </p:spPr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E33ED-50AA-9AF5-2EEF-B4E0A7F78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1577" y="6446520"/>
            <a:ext cx="35040643" cy="21518887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Conclusion</a:t>
            </a:r>
          </a:p>
          <a:p>
            <a:endParaRPr lang="en-US" dirty="0"/>
          </a:p>
          <a:p>
            <a:r>
              <a:rPr lang="en-US" dirty="0"/>
              <a:t>So, what does this all mean? Machine learning can help us spot diabetes risk using the data clinics already have. Random Forests, in particular, strike a nice balance between power and transparency—exactly what healthcare needs.</a:t>
            </a:r>
          </a:p>
          <a:p>
            <a:endParaRPr lang="en-US" dirty="0"/>
          </a:p>
          <a:p>
            <a:r>
              <a:rPr lang="en-US" dirty="0"/>
              <a:t>This framework lays the groundwork for automated screening tools. It’s a clear sign that data science isn’t just theory—it can really change how we approach preventative care.</a:t>
            </a:r>
          </a:p>
          <a:p>
            <a:endParaRPr lang="en-US" dirty="0"/>
          </a:p>
          <a:p>
            <a:r>
              <a:rPr lang="en-US" dirty="0"/>
              <a:t>82% Accuracy | 0.87 ROC-AUC | Clinically Relevant Feature Insights</a:t>
            </a:r>
          </a:p>
          <a:p>
            <a:endParaRPr lang="en-US" dirty="0"/>
          </a:p>
          <a:p>
            <a:r>
              <a:rPr lang="en-US"/>
              <a:t>https://github.com/jeff203262663/healthcare-model-fairness-capstone1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07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2741</TotalTime>
  <Words>1000</Words>
  <Application>Microsoft Office PowerPoint</Application>
  <PresentationFormat>Custom</PresentationFormat>
  <Paragraphs>101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Bookman Old Style</vt:lpstr>
      <vt:lpstr>Rockwell</vt:lpstr>
      <vt:lpstr>Damask</vt:lpstr>
      <vt:lpstr>Machine Learning–Driven Diabetes Risk Prediction Using Clinical Health Data   Jeffery Richardson   Grand Canyon University | MS Data Science</vt:lpstr>
      <vt:lpstr>PowerPoint Presentation</vt:lpstr>
      <vt:lpstr>PowerPoint Presentation</vt:lpstr>
      <vt:lpstr>Details of the project </vt:lpstr>
      <vt:lpstr>Results  of the outputs diagrams for the project 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Jeffery Richardson</cp:lastModifiedBy>
  <cp:revision>6</cp:revision>
  <dcterms:created xsi:type="dcterms:W3CDTF">2013-01-27T09:14:16Z</dcterms:created>
  <dcterms:modified xsi:type="dcterms:W3CDTF">2026-03-05T00:02:26Z</dcterms:modified>
  <cp:category/>
</cp:coreProperties>
</file>